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84" r:id="rId6"/>
    <p:sldId id="276" r:id="rId7"/>
    <p:sldId id="262" r:id="rId8"/>
    <p:sldId id="285" r:id="rId9"/>
    <p:sldId id="263" r:id="rId10"/>
    <p:sldId id="264" r:id="rId11"/>
    <p:sldId id="265" r:id="rId12"/>
    <p:sldId id="266" r:id="rId13"/>
    <p:sldId id="267" r:id="rId14"/>
    <p:sldId id="286" r:id="rId15"/>
    <p:sldId id="269" r:id="rId16"/>
    <p:sldId id="274" r:id="rId17"/>
    <p:sldId id="275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–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062292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03254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Bookman Old Style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ookman Old Style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913795" y="2088319"/>
            <a:ext cx="5106004" cy="370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3403" y="2088319"/>
            <a:ext cx="5094154" cy="370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913795" y="2912232"/>
            <a:ext cx="5107208" cy="2878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402003" y="2088320"/>
            <a:ext cx="4865554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912232"/>
            <a:ext cx="5095357" cy="2878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ookman Old Style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078064" y="609600"/>
            <a:ext cx="6189492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917228" y="2971800"/>
            <a:ext cx="3932237" cy="2819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ookman Old Styl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7424804" y="758881"/>
            <a:ext cx="3255356" cy="4883038"/>
          </a:xfrm>
          <a:prstGeom prst="rect">
            <a:avLst/>
          </a:prstGeom>
          <a:noFill/>
          <a:ln w="1905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913794" y="2971800"/>
            <a:ext cx="5934950" cy="28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ookman Old Style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>
            <a:spLocks noGrp="1"/>
          </p:cNvSpPr>
          <p:nvPr>
            <p:ph type="pic" idx="2"/>
          </p:nvPr>
        </p:nvSpPr>
        <p:spPr>
          <a:xfrm>
            <a:off x="913806" y="621321"/>
            <a:ext cx="10367564" cy="3379735"/>
          </a:xfrm>
          <a:prstGeom prst="rect">
            <a:avLst/>
          </a:prstGeom>
          <a:noFill/>
          <a:ln w="1905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sp>
      <p:sp>
        <p:nvSpPr>
          <p:cNvPr id="71" name="Google Shape;71;p11"/>
          <p:cNvSpPr txBox="1">
            <a:spLocks noGrp="1"/>
          </p:cNvSpPr>
          <p:nvPr>
            <p:ph type="body" idx="1"/>
          </p:nvPr>
        </p:nvSpPr>
        <p:spPr>
          <a:xfrm>
            <a:off x="913795" y="5108728"/>
            <a:ext cx="10365998" cy="682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ftr" idx="11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ookman Old Styl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body" idx="1"/>
          </p:nvPr>
        </p:nvSpPr>
        <p:spPr>
          <a:xfrm>
            <a:off x="913795" y="4204820"/>
            <a:ext cx="10353761" cy="1592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ftr" idx="11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ookman Old Styl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body" idx="1"/>
          </p:nvPr>
        </p:nvSpPr>
        <p:spPr>
          <a:xfrm>
            <a:off x="1720644" y="3610032"/>
            <a:ext cx="8752299" cy="426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body" idx="2"/>
          </p:nvPr>
        </p:nvSpPr>
        <p:spPr>
          <a:xfrm>
            <a:off x="913794" y="4204821"/>
            <a:ext cx="10353762" cy="1586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ftr" idx="11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Rockwell"/>
              <a:buNone/>
            </a:pPr>
            <a:r>
              <a:rPr lang="en-US" sz="80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“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Rockwell"/>
              <a:buNone/>
            </a:pPr>
            <a:r>
              <a:rPr lang="en-US" sz="80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ookman Old Styl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body" idx="1"/>
          </p:nvPr>
        </p:nvSpPr>
        <p:spPr>
          <a:xfrm>
            <a:off x="913794" y="4650556"/>
            <a:ext cx="10353763" cy="1140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ftr" idx="11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body" idx="2"/>
          </p:nvPr>
        </p:nvSpPr>
        <p:spPr>
          <a:xfrm>
            <a:off x="913794" y="2911624"/>
            <a:ext cx="3298956" cy="2879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body" idx="3"/>
          </p:nvPr>
        </p:nvSpPr>
        <p:spPr>
          <a:xfrm>
            <a:off x="4444878" y="2088320"/>
            <a:ext cx="3298558" cy="823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body" idx="4"/>
          </p:nvPr>
        </p:nvSpPr>
        <p:spPr>
          <a:xfrm>
            <a:off x="4444878" y="2911624"/>
            <a:ext cx="3299821" cy="2879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body" idx="5"/>
          </p:nvPr>
        </p:nvSpPr>
        <p:spPr>
          <a:xfrm>
            <a:off x="7973298" y="2088320"/>
            <a:ext cx="3291211" cy="823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3" name="Google Shape;103;p15"/>
          <p:cNvSpPr txBox="1">
            <a:spLocks noGrp="1"/>
          </p:cNvSpPr>
          <p:nvPr>
            <p:ph type="body" idx="6"/>
          </p:nvPr>
        </p:nvSpPr>
        <p:spPr>
          <a:xfrm>
            <a:off x="7976346" y="2911624"/>
            <a:ext cx="3291211" cy="2879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4" name="Google Shape;104;p15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ftr" idx="11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5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icture Column">
  <p:cSld name="3 Picture Column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6"/>
          <p:cNvSpPr txBox="1"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0" name="Google Shape;110;p16"/>
          <p:cNvSpPr>
            <a:spLocks noGrp="1"/>
          </p:cNvSpPr>
          <p:nvPr>
            <p:ph type="pic" idx="2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sp>
      <p:sp>
        <p:nvSpPr>
          <p:cNvPr id="111" name="Google Shape;111;p16"/>
          <p:cNvSpPr txBox="1">
            <a:spLocks noGrp="1"/>
          </p:cNvSpPr>
          <p:nvPr>
            <p:ph type="body" idx="3"/>
          </p:nvPr>
        </p:nvSpPr>
        <p:spPr>
          <a:xfrm>
            <a:off x="913795" y="4772161"/>
            <a:ext cx="3298955" cy="101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12" name="Google Shape;112;p16"/>
          <p:cNvSpPr txBox="1">
            <a:spLocks noGrp="1"/>
          </p:cNvSpPr>
          <p:nvPr>
            <p:ph type="body" idx="4"/>
          </p:nvPr>
        </p:nvSpPr>
        <p:spPr>
          <a:xfrm>
            <a:off x="4442701" y="4195899"/>
            <a:ext cx="3298983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3" name="Google Shape;113;p16"/>
          <p:cNvSpPr>
            <a:spLocks noGrp="1"/>
          </p:cNvSpPr>
          <p:nvPr>
            <p:ph type="pic" idx="5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sp>
      <p:sp>
        <p:nvSpPr>
          <p:cNvPr id="114" name="Google Shape;114;p16"/>
          <p:cNvSpPr txBox="1">
            <a:spLocks noGrp="1"/>
          </p:cNvSpPr>
          <p:nvPr>
            <p:ph type="body" idx="6"/>
          </p:nvPr>
        </p:nvSpPr>
        <p:spPr>
          <a:xfrm>
            <a:off x="4441348" y="4772160"/>
            <a:ext cx="3300336" cy="101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15" name="Google Shape;115;p16"/>
          <p:cNvSpPr txBox="1">
            <a:spLocks noGrp="1"/>
          </p:cNvSpPr>
          <p:nvPr>
            <p:ph type="body" idx="7"/>
          </p:nvPr>
        </p:nvSpPr>
        <p:spPr>
          <a:xfrm>
            <a:off x="7973423" y="4195899"/>
            <a:ext cx="32899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6" name="Google Shape;116;p16"/>
          <p:cNvSpPr>
            <a:spLocks noGrp="1"/>
          </p:cNvSpPr>
          <p:nvPr>
            <p:ph type="pic" idx="8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sp>
      <p:sp>
        <p:nvSpPr>
          <p:cNvPr id="117" name="Google Shape;117;p16"/>
          <p:cNvSpPr txBox="1">
            <a:spLocks noGrp="1"/>
          </p:cNvSpPr>
          <p:nvPr>
            <p:ph type="body" idx="9"/>
          </p:nvPr>
        </p:nvSpPr>
        <p:spPr>
          <a:xfrm>
            <a:off x="7973298" y="4772161"/>
            <a:ext cx="3294258" cy="1019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18" name="Google Shape;118;p16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6"/>
          <p:cNvSpPr txBox="1">
            <a:spLocks noGrp="1"/>
          </p:cNvSpPr>
          <p:nvPr>
            <p:ph type="ftr" idx="11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6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7"/>
          <p:cNvSpPr txBox="1">
            <a:spLocks noGrp="1"/>
          </p:cNvSpPr>
          <p:nvPr>
            <p:ph type="body" idx="1"/>
          </p:nvPr>
        </p:nvSpPr>
        <p:spPr>
          <a:xfrm rot="5400000">
            <a:off x="4243108" y="-1233249"/>
            <a:ext cx="3695136" cy="10353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17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7"/>
          <p:cNvSpPr txBox="1">
            <a:spLocks noGrp="1"/>
          </p:cNvSpPr>
          <p:nvPr>
            <p:ph type="ftr" idx="11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7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 rot="5400000">
            <a:off x="7405428" y="1929071"/>
            <a:ext cx="5181601" cy="2542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ookman Old Styl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body" idx="1"/>
          </p:nvPr>
        </p:nvSpPr>
        <p:spPr>
          <a:xfrm rot="5400000">
            <a:off x="2152346" y="-628953"/>
            <a:ext cx="5181601" cy="7658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ftr" idx="11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8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ookman Old Style"/>
              <a:buNone/>
              <a:defRPr sz="3400" b="1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914400" marR="0" lvl="1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1371600" marR="0" lvl="2" indent="-3302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1828800" marR="0" lvl="3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2286000" marR="0" lvl="4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2743200" marR="0" lvl="5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3200400" marR="0" lvl="6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3657600" marR="0" lvl="7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4114800" marR="0" lvl="8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>
            <a:spLocks noGrp="1"/>
          </p:cNvSpPr>
          <p:nvPr>
            <p:ph type="ctrTitle"/>
          </p:nvPr>
        </p:nvSpPr>
        <p:spPr>
          <a:xfrm>
            <a:off x="1524000" y="478303"/>
            <a:ext cx="9144000" cy="1873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imes New Roman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Crime Prediction: A Comparative Analysis of Random Forest and LSTM</a:t>
            </a:r>
          </a:p>
        </p:txBody>
      </p:sp>
      <p:sp>
        <p:nvSpPr>
          <p:cNvPr id="138" name="Google Shape;138;p19"/>
          <p:cNvSpPr txBox="1">
            <a:spLocks noGrp="1"/>
          </p:cNvSpPr>
          <p:nvPr>
            <p:ph type="subTitle" idx="1"/>
          </p:nvPr>
        </p:nvSpPr>
        <p:spPr>
          <a:xfrm>
            <a:off x="1842867" y="3150581"/>
            <a:ext cx="8506265" cy="2870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2400"/>
              <a:buNone/>
            </a:pPr>
            <a:r>
              <a:rPr lang="en-US" sz="2600" b="1" dirty="0"/>
              <a:t>Group members</a:t>
            </a:r>
            <a:endParaRPr sz="2600" b="1" dirty="0"/>
          </a:p>
          <a:p>
            <a:pPr marL="0" lvl="0" indent="0" algn="ct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dirty="0"/>
              <a:t>Hamza Sajjad , ABC , XYZ</a:t>
            </a:r>
            <a:endParaRPr dirty="0"/>
          </a:p>
          <a:p>
            <a:pPr marL="0" lvl="0" indent="0" algn="ct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 dirty="0"/>
          </a:p>
          <a:p>
            <a:pPr marL="0" lvl="0" indent="0" algn="ctr" rtl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lt1"/>
              </a:buClr>
              <a:buSzPts val="2400"/>
              <a:buNone/>
            </a:pPr>
            <a:r>
              <a:rPr lang="en-US" sz="2600" b="1" dirty="0"/>
              <a:t>Supervisor</a:t>
            </a:r>
          </a:p>
          <a:p>
            <a:pPr marL="0" lvl="0" indent="0" algn="ct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dirty="0"/>
              <a:t>Dr. Faisal Rehman</a:t>
            </a:r>
          </a:p>
          <a:p>
            <a:pPr marL="0" lvl="0" indent="0" algn="ct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ookman Old Style"/>
              <a:buNone/>
            </a:pPr>
            <a:r>
              <a:rPr lang="en-US" dirty="0"/>
              <a:t>INTRODUCTION</a:t>
            </a:r>
            <a:endParaRPr dirty="0"/>
          </a:p>
        </p:txBody>
      </p:sp>
      <p:sp>
        <p:nvSpPr>
          <p:cNvPr id="144" name="Google Shape;144;p20"/>
          <p:cNvSpPr txBox="1">
            <a:spLocks noGrp="1"/>
          </p:cNvSpPr>
          <p:nvPr>
            <p:ph type="body" idx="1"/>
          </p:nvPr>
        </p:nvSpPr>
        <p:spPr>
          <a:xfrm>
            <a:off x="913795" y="2096064"/>
            <a:ext cx="7431919" cy="3695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469900" lvl="0" algn="just" rtl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lt1"/>
              </a:buClr>
              <a:buSzPts val="2000"/>
              <a:buFont typeface="Arial" panose="020B0604020202020204" pitchFamily="34" charset="0"/>
              <a:buChar char="•"/>
            </a:pPr>
            <a:endParaRPr lang="en-US" dirty="0"/>
          </a:p>
          <a:p>
            <a:pPr marL="469900" lvl="0" algn="just" rtl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lt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dirty="0"/>
              <a:t>Rising crime rates demand innovative solutions for prediction and prevention.</a:t>
            </a:r>
          </a:p>
          <a:p>
            <a:pPr marL="469900" lvl="0" algn="just" rtl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lt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dirty="0"/>
              <a:t>Traditional methods struggle with large and complex datasets.</a:t>
            </a:r>
          </a:p>
          <a:p>
            <a:pPr marL="469900" lvl="0" algn="just" rtl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lt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dirty="0"/>
              <a:t>This project employs Machine Learning (ML) and Deep Learning (DL) techniques for crime forecasting.</a:t>
            </a:r>
          </a:p>
          <a:p>
            <a:pPr marL="469900" lvl="0" algn="just" rtl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lt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dirty="0"/>
              <a:t>Random Forest (RF) and Long Short-Term Memory (LSTM) models are compared for performance.</a:t>
            </a:r>
          </a:p>
          <a:p>
            <a:pPr marL="469900" lvl="0" algn="just" rtl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lt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dirty="0"/>
              <a:t>The study aims to identify the most effective model for accurate crime prediction. </a:t>
            </a:r>
          </a:p>
          <a:p>
            <a:pPr marL="469900" lvl="0" algn="just" rtl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lt1"/>
              </a:buClr>
              <a:buSzPts val="2000"/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79D045-5115-4357-9DE3-228D18B06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7" name="Picture 3" descr="CRIME RATE PREDICTION">
            <a:extLst>
              <a:ext uri="{FF2B5EF4-FFF2-40B4-BE49-F238E27FC236}">
                <a16:creationId xmlns:a16="http://schemas.microsoft.com/office/drawing/2014/main" id="{78287564-BC2D-4847-B418-DD556FE75D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7277" y="2566987"/>
            <a:ext cx="3565132" cy="2631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ookman Old Style"/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4" name="Google Shape;156;p22">
            <a:extLst>
              <a:ext uri="{FF2B5EF4-FFF2-40B4-BE49-F238E27FC236}">
                <a16:creationId xmlns:a16="http://schemas.microsoft.com/office/drawing/2014/main" id="{5FB1453C-20DE-43F1-B18B-0ACF7798E0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38870" y="2192775"/>
            <a:ext cx="6444948" cy="3714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469900" algn="just">
              <a:spcBef>
                <a:spcPts val="0"/>
              </a:spcBef>
              <a:spcAft>
                <a:spcPts val="1200"/>
              </a:spcAft>
              <a:buSzPts val="2000"/>
            </a:pPr>
            <a:endParaRPr lang="en-US" sz="1600" dirty="0"/>
          </a:p>
          <a:p>
            <a:pPr marL="469900" algn="just">
              <a:spcBef>
                <a:spcPts val="0"/>
              </a:spcBef>
              <a:spcAft>
                <a:spcPts val="1200"/>
              </a:spcAft>
              <a:buSzPts val="2000"/>
            </a:pPr>
            <a:r>
              <a:rPr lang="en-US" sz="1600" dirty="0"/>
              <a:t>Traditional crime analysis methods lack scalability and efficiency.</a:t>
            </a:r>
          </a:p>
          <a:p>
            <a:pPr marL="469900" algn="just">
              <a:spcBef>
                <a:spcPts val="0"/>
              </a:spcBef>
              <a:spcAft>
                <a:spcPts val="1200"/>
              </a:spcAft>
              <a:buSzPts val="2000"/>
            </a:pPr>
            <a:r>
              <a:rPr lang="en-US" sz="1600" dirty="0"/>
              <a:t>These methods fail to identify complex patterns in high-dimensional datasets.</a:t>
            </a:r>
          </a:p>
          <a:p>
            <a:pPr marL="469900" algn="just">
              <a:spcBef>
                <a:spcPts val="0"/>
              </a:spcBef>
              <a:spcAft>
                <a:spcPts val="1200"/>
              </a:spcAft>
              <a:buSzPts val="2000"/>
            </a:pPr>
            <a:r>
              <a:rPr lang="en-US" sz="1600" dirty="0"/>
              <a:t>Suboptimal predictions hinder effective crime prevention.</a:t>
            </a:r>
          </a:p>
          <a:p>
            <a:pPr marL="469900" algn="just">
              <a:spcBef>
                <a:spcPts val="0"/>
              </a:spcBef>
              <a:spcAft>
                <a:spcPts val="1200"/>
              </a:spcAft>
              <a:buSzPts val="2000"/>
            </a:pPr>
            <a:r>
              <a:rPr lang="en-US" sz="1600" dirty="0"/>
              <a:t>Inefficient resource allocation delays law enforcement responses.</a:t>
            </a:r>
          </a:p>
          <a:p>
            <a:pPr marL="469900" algn="just">
              <a:spcBef>
                <a:spcPts val="0"/>
              </a:spcBef>
              <a:spcAft>
                <a:spcPts val="1200"/>
              </a:spcAft>
              <a:buSzPts val="2000"/>
            </a:pPr>
            <a:r>
              <a:rPr lang="en-US" sz="1600" dirty="0"/>
              <a:t>There is an urgent need for accurate, scalable predictive systems to improve crime forecasting and resource management. </a:t>
            </a:r>
          </a:p>
        </p:txBody>
      </p:sp>
      <p:pic>
        <p:nvPicPr>
          <p:cNvPr id="2051" name="Picture 3" descr="Crime rate prediction. Crime rate ...">
            <a:extLst>
              <a:ext uri="{FF2B5EF4-FFF2-40B4-BE49-F238E27FC236}">
                <a16:creationId xmlns:a16="http://schemas.microsoft.com/office/drawing/2014/main" id="{BD938F8E-4CD9-44CF-8379-24F8CA087E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1362" y="2705099"/>
            <a:ext cx="4582274" cy="2308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ookman Old Style"/>
              <a:buNone/>
            </a:pPr>
            <a:r>
              <a:rPr lang="en-US" dirty="0"/>
              <a:t>PROPOSED SOLUTION</a:t>
            </a:r>
            <a:endParaRPr dirty="0"/>
          </a:p>
        </p:txBody>
      </p:sp>
      <p:sp>
        <p:nvSpPr>
          <p:cNvPr id="156" name="Google Shape;156;p22"/>
          <p:cNvSpPr txBox="1">
            <a:spLocks noGrp="1"/>
          </p:cNvSpPr>
          <p:nvPr>
            <p:ph type="body" idx="1"/>
          </p:nvPr>
        </p:nvSpPr>
        <p:spPr>
          <a:xfrm>
            <a:off x="913795" y="2172153"/>
            <a:ext cx="10809018" cy="389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algn="l"/>
            <a:r>
              <a:rPr lang="en-US" b="0" i="0" dirty="0">
                <a:solidFill>
                  <a:srgbClr val="F8FAFF"/>
                </a:solidFill>
                <a:effectLst/>
                <a:latin typeface="quote-cjk-patch"/>
              </a:rPr>
              <a:t>This project addresses the limitations of traditional methods by implementing and evaluating five advanced predictive models:</a:t>
            </a:r>
          </a:p>
          <a:p>
            <a:pPr lvl="1">
              <a:buFont typeface="+mj-lt"/>
              <a:buAutoNum type="arabicPeriod"/>
            </a:pPr>
            <a:r>
              <a:rPr lang="en-US" b="1" i="0" dirty="0">
                <a:solidFill>
                  <a:srgbClr val="F8FAFF"/>
                </a:solidFill>
                <a:effectLst/>
                <a:latin typeface="quote-cjk-patch"/>
              </a:rPr>
              <a:t>Random Forest (RF):</a:t>
            </a:r>
            <a:r>
              <a:rPr lang="en-US" b="0" i="0" dirty="0">
                <a:solidFill>
                  <a:srgbClr val="F8FAFF"/>
                </a:solidFill>
                <a:effectLst/>
                <a:latin typeface="quote-cjk-patch"/>
              </a:rPr>
              <a:t> Known for its high accuracy and interpretability in structured datasets.</a:t>
            </a:r>
          </a:p>
          <a:p>
            <a:pPr lvl="1">
              <a:buFont typeface="+mj-lt"/>
              <a:buAutoNum type="arabicPeriod"/>
            </a:pPr>
            <a:r>
              <a:rPr lang="en-US" b="1" i="0" dirty="0">
                <a:solidFill>
                  <a:srgbClr val="F8FAFF"/>
                </a:solidFill>
                <a:effectLst/>
                <a:latin typeface="quote-cjk-patch"/>
              </a:rPr>
              <a:t>Long Short-Term Memory (LSTM):</a:t>
            </a:r>
            <a:r>
              <a:rPr lang="en-US" b="0" i="0" dirty="0">
                <a:solidFill>
                  <a:srgbClr val="F8FAFF"/>
                </a:solidFill>
                <a:effectLst/>
                <a:latin typeface="quote-cjk-patch"/>
              </a:rPr>
              <a:t> A deep learning model capable of capturing temporal dependencies in sequential data.</a:t>
            </a:r>
          </a:p>
          <a:p>
            <a:pPr lvl="1">
              <a:buFont typeface="+mj-lt"/>
              <a:buAutoNum type="arabicPeriod"/>
            </a:pPr>
            <a:r>
              <a:rPr lang="en-US" b="1" i="0" dirty="0">
                <a:solidFill>
                  <a:srgbClr val="F8FAFF"/>
                </a:solidFill>
                <a:effectLst/>
                <a:latin typeface="quote-cjk-patch"/>
              </a:rPr>
              <a:t>Multilayer Perceptron (MLP):</a:t>
            </a:r>
            <a:r>
              <a:rPr lang="en-US" b="0" i="0" dirty="0">
                <a:solidFill>
                  <a:srgbClr val="F8FAFF"/>
                </a:solidFill>
                <a:effectLst/>
                <a:latin typeface="quote-cjk-patch"/>
              </a:rPr>
              <a:t> A neural network architecture adept at learning complex non-linear relationships.</a:t>
            </a:r>
          </a:p>
          <a:p>
            <a:pPr lvl="1">
              <a:buFont typeface="+mj-lt"/>
              <a:buAutoNum type="arabicPeriod"/>
            </a:pPr>
            <a:r>
              <a:rPr lang="en-US" b="1" i="0" dirty="0">
                <a:solidFill>
                  <a:srgbClr val="F8FAFF"/>
                </a:solidFill>
                <a:effectLst/>
                <a:latin typeface="quote-cjk-patch"/>
              </a:rPr>
              <a:t>K-Nearest Neighbors (K-NN):</a:t>
            </a:r>
            <a:r>
              <a:rPr lang="en-US" b="0" i="0" dirty="0">
                <a:solidFill>
                  <a:srgbClr val="F8FAFF"/>
                </a:solidFill>
                <a:effectLst/>
                <a:latin typeface="quote-cjk-patch"/>
              </a:rPr>
              <a:t> A simple yet effective distance-based model for classification tasks.</a:t>
            </a:r>
          </a:p>
          <a:p>
            <a:pPr lvl="1">
              <a:buFont typeface="+mj-lt"/>
              <a:buAutoNum type="arabicPeriod"/>
            </a:pPr>
            <a:r>
              <a:rPr lang="en-US" b="1" i="0" dirty="0">
                <a:solidFill>
                  <a:srgbClr val="F8FAFF"/>
                </a:solidFill>
                <a:effectLst/>
                <a:latin typeface="quote-cjk-patch"/>
              </a:rPr>
              <a:t>Ensemble Learning:</a:t>
            </a:r>
            <a:r>
              <a:rPr lang="en-US" b="0" i="0" dirty="0">
                <a:solidFill>
                  <a:srgbClr val="F8FAFF"/>
                </a:solidFill>
                <a:effectLst/>
                <a:latin typeface="quote-cjk-patch"/>
              </a:rPr>
              <a:t> Combines multiple models to improve robustness and predictive performance.</a:t>
            </a:r>
          </a:p>
          <a:p>
            <a:pPr algn="l"/>
            <a:r>
              <a:rPr lang="en-US" b="0" i="0" dirty="0">
                <a:solidFill>
                  <a:srgbClr val="F8FAFF"/>
                </a:solidFill>
                <a:effectLst/>
                <a:latin typeface="quote-cjk-patch"/>
              </a:rPr>
              <a:t>The models are trained on a publicly available crime dataset and evaluated using metrics such as accuracy, precision, recall, and F1-score. Hyperparameter tuning is performed to optimize each model’s performance. By providing a detailed comparison, the study aims to recommend the best model for practical applications in crime prediction.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 txBox="1">
            <a:spLocks noGrp="1"/>
          </p:cNvSpPr>
          <p:nvPr>
            <p:ph type="title"/>
          </p:nvPr>
        </p:nvSpPr>
        <p:spPr>
          <a:xfrm>
            <a:off x="919119" y="286043"/>
            <a:ext cx="10353761" cy="1078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ookman Old Style"/>
              <a:buNone/>
            </a:pPr>
            <a:r>
              <a:rPr lang="en-US" dirty="0"/>
              <a:t>BENCHMARKING</a:t>
            </a:r>
            <a:endParaRPr dirty="0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A5DB07B9-AB6C-4EC9-86E6-7CA0F2E933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75153"/>
              </p:ext>
            </p:extLst>
          </p:nvPr>
        </p:nvGraphicFramePr>
        <p:xfrm>
          <a:off x="534256" y="1469205"/>
          <a:ext cx="10839240" cy="5168907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806540">
                  <a:extLst>
                    <a:ext uri="{9D8B030D-6E8A-4147-A177-3AD203B41FA5}">
                      <a16:colId xmlns:a16="http://schemas.microsoft.com/office/drawing/2014/main" val="2237777208"/>
                    </a:ext>
                  </a:extLst>
                </a:gridCol>
                <a:gridCol w="1806540">
                  <a:extLst>
                    <a:ext uri="{9D8B030D-6E8A-4147-A177-3AD203B41FA5}">
                      <a16:colId xmlns:a16="http://schemas.microsoft.com/office/drawing/2014/main" val="994390168"/>
                    </a:ext>
                  </a:extLst>
                </a:gridCol>
                <a:gridCol w="1806540">
                  <a:extLst>
                    <a:ext uri="{9D8B030D-6E8A-4147-A177-3AD203B41FA5}">
                      <a16:colId xmlns:a16="http://schemas.microsoft.com/office/drawing/2014/main" val="848335634"/>
                    </a:ext>
                  </a:extLst>
                </a:gridCol>
                <a:gridCol w="1806540">
                  <a:extLst>
                    <a:ext uri="{9D8B030D-6E8A-4147-A177-3AD203B41FA5}">
                      <a16:colId xmlns:a16="http://schemas.microsoft.com/office/drawing/2014/main" val="4075027152"/>
                    </a:ext>
                  </a:extLst>
                </a:gridCol>
                <a:gridCol w="1806540">
                  <a:extLst>
                    <a:ext uri="{9D8B030D-6E8A-4147-A177-3AD203B41FA5}">
                      <a16:colId xmlns:a16="http://schemas.microsoft.com/office/drawing/2014/main" val="3712798171"/>
                    </a:ext>
                  </a:extLst>
                </a:gridCol>
                <a:gridCol w="1806540">
                  <a:extLst>
                    <a:ext uri="{9D8B030D-6E8A-4147-A177-3AD203B41FA5}">
                      <a16:colId xmlns:a16="http://schemas.microsoft.com/office/drawing/2014/main" val="637361526"/>
                    </a:ext>
                  </a:extLst>
                </a:gridCol>
              </a:tblGrid>
              <a:tr h="487566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solidFill>
                            <a:srgbClr val="F5F5F5"/>
                          </a:solidFill>
                          <a:effectLst/>
                        </a:rPr>
                        <a:t>Feature</a:t>
                      </a: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solidFill>
                            <a:srgbClr val="F5F5F5"/>
                          </a:solidFill>
                          <a:effectLst/>
                        </a:rPr>
                        <a:t>Random Forest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solidFill>
                            <a:srgbClr val="F5F5F5"/>
                          </a:solidFill>
                          <a:effectLst/>
                        </a:rPr>
                        <a:t>LSTM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solidFill>
                            <a:srgbClr val="F5F5F5"/>
                          </a:solidFill>
                          <a:effectLst/>
                        </a:rPr>
                        <a:t>MLP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solidFill>
                            <a:srgbClr val="F5F5F5"/>
                          </a:solidFill>
                          <a:effectLst/>
                        </a:rPr>
                        <a:t>K-NN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rgbClr val="F5F5F5"/>
                          </a:solidFill>
                          <a:effectLst/>
                        </a:rPr>
                        <a:t>Proposed Voting Ensemble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2479694247"/>
                  </a:ext>
                </a:extLst>
              </a:tr>
              <a:tr h="728011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Real-Time Prediction</a:t>
                      </a:r>
                      <a:endParaRPr lang="en-US">
                        <a:effectLst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✓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✗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✓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✗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✓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4029379932"/>
                  </a:ext>
                </a:extLst>
              </a:tr>
              <a:tr h="728011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Multi-Crime Detection</a:t>
                      </a:r>
                      <a:endParaRPr lang="en-US">
                        <a:effectLst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✓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✓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✓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✓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✓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2415393419"/>
                  </a:ext>
                </a:extLst>
              </a:tr>
              <a:tr h="728011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Visual Crime Hotspots</a:t>
                      </a:r>
                      <a:endParaRPr lang="en-US">
                        <a:effectLst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✓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✗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✗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✗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✓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2991962876"/>
                  </a:ext>
                </a:extLst>
              </a:tr>
              <a:tr h="728011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Easy-to-Use Dashboard</a:t>
                      </a:r>
                      <a:endParaRPr lang="en-US">
                        <a:effectLst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✓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✗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✓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✗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✓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2426171841"/>
                  </a:ext>
                </a:extLst>
              </a:tr>
              <a:tr h="487566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Confidence Scores</a:t>
                      </a:r>
                      <a:endParaRPr lang="en-US">
                        <a:effectLst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✓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✗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✓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✗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✓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480207203"/>
                  </a:ext>
                </a:extLst>
              </a:tr>
              <a:tr h="728011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Handles Large Cities</a:t>
                      </a:r>
                      <a:endParaRPr lang="en-US">
                        <a:effectLst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✓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✗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✓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✗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✓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1306724418"/>
                  </a:ext>
                </a:extLst>
              </a:tr>
              <a:tr h="487566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Fast Processing</a:t>
                      </a:r>
                      <a:endParaRPr lang="en-US">
                        <a:effectLst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✓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✗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✓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✓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✗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2497028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7906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ookman Old Style"/>
              <a:buNone/>
            </a:pPr>
            <a:r>
              <a:rPr lang="en-US" dirty="0"/>
              <a:t>OBJECTIVES &amp; GOALS</a:t>
            </a:r>
          </a:p>
        </p:txBody>
      </p:sp>
      <p:sp>
        <p:nvSpPr>
          <p:cNvPr id="150" name="Google Shape;150;p21"/>
          <p:cNvSpPr txBox="1">
            <a:spLocks noGrp="1"/>
          </p:cNvSpPr>
          <p:nvPr>
            <p:ph type="body" idx="1"/>
          </p:nvPr>
        </p:nvSpPr>
        <p:spPr>
          <a:xfrm>
            <a:off x="615844" y="1935921"/>
            <a:ext cx="6541125" cy="3695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469900" algn="just">
              <a:spcBef>
                <a:spcPts val="0"/>
              </a:spcBef>
              <a:spcAft>
                <a:spcPts val="1200"/>
              </a:spcAft>
              <a:buSzPts val="2000"/>
            </a:pPr>
            <a:endParaRPr lang="en-US" dirty="0"/>
          </a:p>
          <a:p>
            <a:pPr marL="469900" algn="just">
              <a:spcBef>
                <a:spcPts val="0"/>
              </a:spcBef>
              <a:spcAft>
                <a:spcPts val="1200"/>
              </a:spcAft>
              <a:buSzPts val="2000"/>
            </a:pPr>
            <a:r>
              <a:rPr lang="en-US" dirty="0"/>
              <a:t>Implement and compare Random Forest (RF) and Long Short-Term Memory (LSTM) models for crime prediction.</a:t>
            </a:r>
          </a:p>
          <a:p>
            <a:pPr marL="469900" algn="just">
              <a:spcBef>
                <a:spcPts val="0"/>
              </a:spcBef>
              <a:spcAft>
                <a:spcPts val="1200"/>
              </a:spcAft>
              <a:buSzPts val="2000"/>
            </a:pPr>
            <a:r>
              <a:rPr lang="en-US" dirty="0"/>
              <a:t>Preprocess and clean historical crime data to ensure accurate analysis.</a:t>
            </a:r>
          </a:p>
          <a:p>
            <a:pPr marL="469900" algn="just">
              <a:spcBef>
                <a:spcPts val="0"/>
              </a:spcBef>
              <a:spcAft>
                <a:spcPts val="1200"/>
              </a:spcAft>
              <a:buSzPts val="2000"/>
            </a:pPr>
            <a:r>
              <a:rPr lang="en-US" dirty="0"/>
              <a:t>Evaluate model performance using metrics like accuracy, precision, recall, and F1-score.</a:t>
            </a:r>
          </a:p>
          <a:p>
            <a:pPr marL="469900" algn="just">
              <a:spcBef>
                <a:spcPts val="0"/>
              </a:spcBef>
              <a:spcAft>
                <a:spcPts val="1200"/>
              </a:spcAft>
              <a:buSzPts val="2000"/>
            </a:pPr>
            <a:r>
              <a:rPr lang="en-US" dirty="0"/>
              <a:t>Provide actionable insights for optimizing resource allocation in crime prevention.</a:t>
            </a:r>
          </a:p>
          <a:p>
            <a:pPr marL="469900" algn="just">
              <a:spcBef>
                <a:spcPts val="0"/>
              </a:spcBef>
              <a:spcAft>
                <a:spcPts val="1200"/>
              </a:spcAft>
              <a:buSzPts val="2000"/>
            </a:pPr>
            <a:r>
              <a:rPr lang="en-US" dirty="0"/>
              <a:t>Recommend the best-performing model for real-world crime forecasting systems. </a:t>
            </a:r>
          </a:p>
          <a:p>
            <a:pPr marL="469900" algn="just">
              <a:spcBef>
                <a:spcPts val="0"/>
              </a:spcBef>
              <a:spcAft>
                <a:spcPts val="1200"/>
              </a:spcAft>
              <a:buSzPts val="2000"/>
            </a:pPr>
            <a:endParaRPr lang="en-US" dirty="0"/>
          </a:p>
        </p:txBody>
      </p:sp>
      <p:pic>
        <p:nvPicPr>
          <p:cNvPr id="2050" name="Picture 2" descr="Project Objectives Examples &amp; Tips to Accomplish Your Goals">
            <a:extLst>
              <a:ext uri="{FF2B5EF4-FFF2-40B4-BE49-F238E27FC236}">
                <a16:creationId xmlns:a16="http://schemas.microsoft.com/office/drawing/2014/main" id="{98E42124-7787-4213-AD29-6995389BF3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4920" y="2178953"/>
            <a:ext cx="4452554" cy="3194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5702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 txBox="1">
            <a:spLocks noGrp="1"/>
          </p:cNvSpPr>
          <p:nvPr>
            <p:ph type="title"/>
          </p:nvPr>
        </p:nvSpPr>
        <p:spPr>
          <a:xfrm>
            <a:off x="919119" y="567397"/>
            <a:ext cx="10353761" cy="1326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ookman Old Style"/>
              <a:buNone/>
            </a:pPr>
            <a:r>
              <a:rPr lang="en-US" dirty="0"/>
              <a:t>PROJECT FEATURES</a:t>
            </a:r>
            <a:endParaRPr dirty="0"/>
          </a:p>
        </p:txBody>
      </p:sp>
      <p:sp>
        <p:nvSpPr>
          <p:cNvPr id="174" name="Google Shape;174;p25"/>
          <p:cNvSpPr txBox="1">
            <a:spLocks noGrp="1"/>
          </p:cNvSpPr>
          <p:nvPr>
            <p:ph type="body" idx="1"/>
          </p:nvPr>
        </p:nvSpPr>
        <p:spPr>
          <a:xfrm>
            <a:off x="913795" y="2096064"/>
            <a:ext cx="10353761" cy="3695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469900" algn="just">
              <a:spcBef>
                <a:spcPts val="0"/>
              </a:spcBef>
              <a:spcAft>
                <a:spcPts val="1200"/>
              </a:spcAft>
              <a:buSzPts val="2000"/>
            </a:pPr>
            <a:endParaRPr lang="en-US" dirty="0"/>
          </a:p>
          <a:p>
            <a:pPr marL="469900" algn="just">
              <a:spcBef>
                <a:spcPts val="0"/>
              </a:spcBef>
              <a:spcAft>
                <a:spcPts val="1200"/>
              </a:spcAft>
              <a:buSzPts val="2000"/>
            </a:pPr>
            <a:r>
              <a:rPr lang="en-US" dirty="0"/>
              <a:t>Implementation of Random Forest (RF) and Long Short-Term Memory (LSTM) models for crime prediction.</a:t>
            </a:r>
          </a:p>
          <a:p>
            <a:pPr marL="469900" algn="just">
              <a:spcBef>
                <a:spcPts val="0"/>
              </a:spcBef>
              <a:spcAft>
                <a:spcPts val="1200"/>
              </a:spcAft>
              <a:buSzPts val="2000"/>
            </a:pPr>
            <a:r>
              <a:rPr lang="en-US" dirty="0"/>
              <a:t>Data preprocessing techniques to handle missing values, outliers, and feature encoding.</a:t>
            </a:r>
          </a:p>
          <a:p>
            <a:pPr marL="469900" algn="just">
              <a:spcBef>
                <a:spcPts val="0"/>
              </a:spcBef>
              <a:spcAft>
                <a:spcPts val="1200"/>
              </a:spcAft>
              <a:buSzPts val="2000"/>
            </a:pPr>
            <a:r>
              <a:rPr lang="en-US" dirty="0"/>
              <a:t>Performance evaluation using key metrics like accuracy, precision, recall, and F1-score.</a:t>
            </a:r>
          </a:p>
          <a:p>
            <a:pPr marL="469900" algn="just">
              <a:spcBef>
                <a:spcPts val="0"/>
              </a:spcBef>
              <a:spcAft>
                <a:spcPts val="1200"/>
              </a:spcAft>
              <a:buSzPts val="2000"/>
            </a:pPr>
            <a:r>
              <a:rPr lang="en-US" dirty="0"/>
              <a:t>Visualization of results through clear and intuitive graphs and tables.</a:t>
            </a:r>
          </a:p>
          <a:p>
            <a:pPr marL="469900" algn="just">
              <a:spcBef>
                <a:spcPts val="0"/>
              </a:spcBef>
              <a:spcAft>
                <a:spcPts val="1200"/>
              </a:spcAft>
              <a:buSzPts val="2000"/>
            </a:pPr>
            <a:r>
              <a:rPr lang="en-US" dirty="0"/>
              <a:t>Scalability to handle larger datasets and future enhancements. </a:t>
            </a:r>
          </a:p>
          <a:p>
            <a:pPr marL="469900" algn="just">
              <a:spcBef>
                <a:spcPts val="0"/>
              </a:spcBef>
              <a:spcAft>
                <a:spcPts val="1200"/>
              </a:spcAft>
              <a:buSzPts val="2000"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3B6AEF-88C5-4081-8910-B5849952F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671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ookman Old Style"/>
              <a:buNone/>
            </a:pPr>
            <a:r>
              <a:rPr lang="en-US" dirty="0"/>
              <a:t>STAKEHOLDERS</a:t>
            </a:r>
            <a:endParaRPr dirty="0"/>
          </a:p>
        </p:txBody>
      </p:sp>
      <p:sp>
        <p:nvSpPr>
          <p:cNvPr id="180" name="Google Shape;180;p26"/>
          <p:cNvSpPr txBox="1">
            <a:spLocks noGrp="1"/>
          </p:cNvSpPr>
          <p:nvPr>
            <p:ph type="body" idx="1"/>
          </p:nvPr>
        </p:nvSpPr>
        <p:spPr>
          <a:xfrm>
            <a:off x="913795" y="2096064"/>
            <a:ext cx="10654906" cy="3695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469900" lvl="0" algn="just" rtl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lt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dirty="0"/>
              <a:t>Law Enforcement Agencies: Utilize the system for proactive crime prevention and efficient resource allocation.</a:t>
            </a:r>
          </a:p>
          <a:p>
            <a:pPr marL="469900" lvl="0" algn="just" rtl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lt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dirty="0"/>
              <a:t>Policymakers: Leverage insights for data-driven decisions and policy formulation.</a:t>
            </a:r>
          </a:p>
          <a:p>
            <a:pPr marL="469900" lvl="0" algn="just" rtl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lt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dirty="0"/>
              <a:t>Researchers: Explore the comparative analysis of ML and DL models for advancing crime prediction studies.</a:t>
            </a:r>
          </a:p>
          <a:p>
            <a:pPr marL="469900" lvl="0" algn="just" rtl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lt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dirty="0"/>
              <a:t>Data Science Community: Gain a reference for implementing predictive modeling in public safety domains.</a:t>
            </a:r>
          </a:p>
          <a:p>
            <a:pPr marL="469900" lvl="0" algn="just" rtl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lt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dirty="0"/>
              <a:t>General Public: Benefit indirectly through improved public safety and optimized law enforcement strategies. </a:t>
            </a:r>
          </a:p>
          <a:p>
            <a:pPr marL="469900" lvl="0" algn="just" rtl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lt1"/>
              </a:buClr>
              <a:buSzPts val="2000"/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 txBox="1">
            <a:spLocks noGrp="1"/>
          </p:cNvSpPr>
          <p:nvPr>
            <p:ph type="title"/>
          </p:nvPr>
        </p:nvSpPr>
        <p:spPr>
          <a:xfrm>
            <a:off x="913795" y="567396"/>
            <a:ext cx="10353761" cy="1326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ookman Old Style"/>
              <a:buNone/>
            </a:pPr>
            <a:r>
              <a:rPr lang="en-US" dirty="0"/>
              <a:t>FUNCTIONAL REQUIREMENTS</a:t>
            </a:r>
            <a:endParaRPr dirty="0"/>
          </a:p>
        </p:txBody>
      </p:sp>
      <p:sp>
        <p:nvSpPr>
          <p:cNvPr id="186" name="Google Shape;186;p27"/>
          <p:cNvSpPr txBox="1"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469900" lvl="0" algn="just" rtl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lt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dirty="0"/>
              <a:t>Data Preprocessing: Clean and prepare the dataset by handling missing values, outliers, and encoding categorical variables.</a:t>
            </a:r>
          </a:p>
          <a:p>
            <a:pPr marL="469900" lvl="0" algn="just" rtl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lt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dirty="0"/>
              <a:t>Model Implementation: Develop and train Random Forest (RF) and Long Short-Term Memory (LSTM) models for crime prediction.</a:t>
            </a:r>
          </a:p>
          <a:p>
            <a:pPr marL="469900" lvl="0" algn="just" rtl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lt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dirty="0"/>
              <a:t>Performance Evaluation: Measure model effectiveness using metrics such as accuracy, precision, recall, and F1-score.</a:t>
            </a:r>
          </a:p>
          <a:p>
            <a:pPr marL="469900" lvl="0" algn="just" rtl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lt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dirty="0"/>
              <a:t>Visualization: Provide graphical representations of predictions and performance metrics.</a:t>
            </a:r>
          </a:p>
          <a:p>
            <a:pPr marL="469900" lvl="0" algn="just" rtl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lt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dirty="0"/>
              <a:t>Result Comparison: Enable direct comparison between RF and LSTM models on the same dataset.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ookman Old Style"/>
              <a:buNone/>
            </a:pPr>
            <a:r>
              <a:rPr lang="en-US" dirty="0"/>
              <a:t>NON-FUNCTIONAL REQUIREMENTS</a:t>
            </a:r>
            <a:endParaRPr dirty="0"/>
          </a:p>
        </p:txBody>
      </p:sp>
      <p:sp>
        <p:nvSpPr>
          <p:cNvPr id="192" name="Google Shape;192;p28"/>
          <p:cNvSpPr txBox="1">
            <a:spLocks noGrp="1"/>
          </p:cNvSpPr>
          <p:nvPr>
            <p:ph type="body" idx="1"/>
          </p:nvPr>
        </p:nvSpPr>
        <p:spPr>
          <a:xfrm>
            <a:off x="519897" y="2096064"/>
            <a:ext cx="7217333" cy="3695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469900" algn="just">
              <a:spcBef>
                <a:spcPts val="0"/>
              </a:spcBef>
              <a:spcAft>
                <a:spcPts val="1200"/>
              </a:spcAft>
              <a:buSzPts val="2000"/>
            </a:pPr>
            <a:r>
              <a:rPr lang="en-US" dirty="0"/>
              <a:t>Performance: Ensure efficient processing and reasonable training times for the models.</a:t>
            </a:r>
          </a:p>
          <a:p>
            <a:pPr marL="469900" algn="just">
              <a:spcBef>
                <a:spcPts val="0"/>
              </a:spcBef>
              <a:spcAft>
                <a:spcPts val="1200"/>
              </a:spcAft>
              <a:buSzPts val="2000"/>
            </a:pPr>
            <a:r>
              <a:rPr lang="en-US" dirty="0"/>
              <a:t>Scalability: Design the system to handle larger datasets in future implementations.</a:t>
            </a:r>
          </a:p>
          <a:p>
            <a:pPr marL="469900" algn="just">
              <a:spcBef>
                <a:spcPts val="0"/>
              </a:spcBef>
              <a:spcAft>
                <a:spcPts val="1200"/>
              </a:spcAft>
              <a:buSzPts val="2000"/>
            </a:pPr>
            <a:r>
              <a:rPr lang="en-US" dirty="0"/>
              <a:t>Usability: Present results in an intuitive format with clear visualizations for stakeholders.</a:t>
            </a:r>
          </a:p>
          <a:p>
            <a:pPr marL="469900" algn="just">
              <a:spcBef>
                <a:spcPts val="0"/>
              </a:spcBef>
              <a:spcAft>
                <a:spcPts val="1200"/>
              </a:spcAft>
              <a:buSzPts val="2000"/>
            </a:pPr>
            <a:r>
              <a:rPr lang="en-US" dirty="0"/>
              <a:t>Security: Protect data privacy and ensure compliance with ethical standards.</a:t>
            </a:r>
          </a:p>
          <a:p>
            <a:pPr marL="469900" algn="just">
              <a:spcBef>
                <a:spcPts val="0"/>
              </a:spcBef>
              <a:spcAft>
                <a:spcPts val="1200"/>
              </a:spcAft>
              <a:buSzPts val="2000"/>
            </a:pPr>
            <a:r>
              <a:rPr lang="en-US" dirty="0"/>
              <a:t>Reliability: Maintain consistent and accurate results during repeated analyses. </a:t>
            </a:r>
          </a:p>
          <a:p>
            <a:pPr marL="469900" algn="just">
              <a:spcBef>
                <a:spcPts val="0"/>
              </a:spcBef>
              <a:spcAft>
                <a:spcPts val="1200"/>
              </a:spcAft>
              <a:buSzPts val="2000"/>
            </a:pPr>
            <a:endParaRPr lang="en-US" dirty="0"/>
          </a:p>
        </p:txBody>
      </p:sp>
      <p:pic>
        <p:nvPicPr>
          <p:cNvPr id="4098" name="Picture 2" descr="User Interface (UI ...">
            <a:extLst>
              <a:ext uri="{FF2B5EF4-FFF2-40B4-BE49-F238E27FC236}">
                <a16:creationId xmlns:a16="http://schemas.microsoft.com/office/drawing/2014/main" id="{88A2B0B9-15D0-44AA-97A3-6F1CA4E82C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4855" y="2228693"/>
            <a:ext cx="3597247" cy="292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ookman Old Style"/>
              <a:buNone/>
            </a:pPr>
            <a:r>
              <a:rPr lang="en-US" dirty="0"/>
              <a:t>CONSTRAINTS</a:t>
            </a:r>
            <a:endParaRPr dirty="0"/>
          </a:p>
        </p:txBody>
      </p:sp>
      <p:sp>
        <p:nvSpPr>
          <p:cNvPr id="198" name="Google Shape;198;p29"/>
          <p:cNvSpPr txBox="1">
            <a:spLocks noGrp="1"/>
          </p:cNvSpPr>
          <p:nvPr>
            <p:ph type="body" idx="1"/>
          </p:nvPr>
        </p:nvSpPr>
        <p:spPr>
          <a:xfrm>
            <a:off x="484162" y="2096064"/>
            <a:ext cx="11433859" cy="3695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9900" algn="just">
              <a:spcBef>
                <a:spcPts val="0"/>
              </a:spcBef>
              <a:buSzPts val="2000"/>
            </a:pPr>
            <a:r>
              <a:rPr lang="en-US" dirty="0">
                <a:latin typeface="Rockwell" panose="02060603020205020403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Data Availability: Limited access to comprehensive and high-quality crime datasets.</a:t>
            </a:r>
          </a:p>
          <a:p>
            <a:pPr marL="469900" algn="just">
              <a:spcBef>
                <a:spcPts val="0"/>
              </a:spcBef>
              <a:buSzPts val="2000"/>
            </a:pPr>
            <a:r>
              <a:rPr lang="en-US" dirty="0">
                <a:latin typeface="Rockwell" panose="02060603020205020403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Computational Power: High resource requirements for LSTM training compared to Random Forest.</a:t>
            </a:r>
          </a:p>
          <a:p>
            <a:pPr marL="469900" algn="just">
              <a:spcBef>
                <a:spcPts val="0"/>
              </a:spcBef>
              <a:buSzPts val="2000"/>
            </a:pPr>
            <a:r>
              <a:rPr lang="en-US" dirty="0">
                <a:latin typeface="Rockwell" panose="02060603020205020403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Training Time: LSTM models take longer to train, which may impact time-sensitive applications.</a:t>
            </a:r>
          </a:p>
          <a:p>
            <a:pPr marL="469900" algn="just">
              <a:spcBef>
                <a:spcPts val="0"/>
              </a:spcBef>
              <a:buSzPts val="2000"/>
            </a:pPr>
            <a:r>
              <a:rPr lang="en-US" dirty="0">
                <a:latin typeface="Rockwell" panose="02060603020205020403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Model Interpretability: LSTM lacks intuitive interpretability compared to Random Forest.</a:t>
            </a:r>
          </a:p>
          <a:p>
            <a:pPr marL="469900" algn="just">
              <a:spcBef>
                <a:spcPts val="0"/>
              </a:spcBef>
              <a:buSzPts val="2000"/>
            </a:pPr>
            <a:r>
              <a:rPr lang="en-US" dirty="0">
                <a:latin typeface="Rockwell" panose="02060603020205020403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Ethical and Legal Compliance: Adhering to data privacy and anti-bias regulations. </a:t>
            </a:r>
          </a:p>
          <a:p>
            <a:pPr marL="469900" algn="just">
              <a:spcBef>
                <a:spcPts val="0"/>
              </a:spcBef>
              <a:buSzPts val="2000"/>
            </a:pPr>
            <a:endParaRPr lang="en-US" dirty="0">
              <a:latin typeface="Rockwell" panose="02060603020205020403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ookman Old Style"/>
              <a:buNone/>
            </a:pPr>
            <a:r>
              <a:rPr lang="en-US" dirty="0"/>
              <a:t>FUNCTIONALITY CLASSIFICATION</a:t>
            </a:r>
            <a:endParaRPr dirty="0"/>
          </a:p>
        </p:txBody>
      </p:sp>
      <p:sp>
        <p:nvSpPr>
          <p:cNvPr id="204" name="Google Shape;204;p30"/>
          <p:cNvSpPr txBox="1"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endParaRPr lang="en-US" dirty="0"/>
          </a:p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dirty="0"/>
              <a:t>Data preprocessing, including cleaning and encoding.</a:t>
            </a:r>
          </a:p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dirty="0"/>
              <a:t>Training and implementation of Random Forest (RF) and LSTM models &amp; others.</a:t>
            </a:r>
          </a:p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1800" dirty="0"/>
              <a:t>Evaluation</a:t>
            </a:r>
            <a:r>
              <a:rPr lang="en-US" dirty="0"/>
              <a:t> of models using metrics like accuracy, precision, recall, and F1-score.</a:t>
            </a:r>
          </a:p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dirty="0"/>
              <a:t>Visualization of results through graphs and tables.</a:t>
            </a:r>
          </a:p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dirty="0"/>
              <a:t>Comparative analysis of RF and LSTM performance. </a:t>
            </a:r>
          </a:p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5ADE91-66D6-485F-8EE6-F20D09C33A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266"/>
          <a:stretch/>
        </p:blipFill>
        <p:spPr>
          <a:xfrm>
            <a:off x="1982912" y="610554"/>
            <a:ext cx="7695344" cy="575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7046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2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ookman Old Style"/>
              <a:buNone/>
            </a:pPr>
            <a:r>
              <a:rPr lang="en-US" dirty="0"/>
              <a:t>DESIGN METHODOLOGY</a:t>
            </a:r>
            <a:endParaRPr dirty="0"/>
          </a:p>
        </p:txBody>
      </p:sp>
      <p:sp>
        <p:nvSpPr>
          <p:cNvPr id="216" name="Google Shape;216;p32"/>
          <p:cNvSpPr txBox="1"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69900" algn="just">
              <a:spcBef>
                <a:spcPts val="0"/>
              </a:spcBef>
              <a:spcAft>
                <a:spcPts val="1200"/>
              </a:spcAft>
              <a:buSzPts val="2000"/>
            </a:pPr>
            <a:endParaRPr lang="en-US" dirty="0"/>
          </a:p>
          <a:p>
            <a:pPr marL="469900" algn="just">
              <a:spcBef>
                <a:spcPts val="0"/>
              </a:spcBef>
              <a:spcAft>
                <a:spcPts val="1200"/>
              </a:spcAft>
              <a:buSzPts val="2000"/>
            </a:pPr>
            <a:r>
              <a:rPr lang="en-US" dirty="0"/>
              <a:t>Collect historical crime data, including type, location, and time.</a:t>
            </a:r>
          </a:p>
          <a:p>
            <a:pPr marL="469900" algn="just">
              <a:spcBef>
                <a:spcPts val="0"/>
              </a:spcBef>
              <a:spcAft>
                <a:spcPts val="1200"/>
              </a:spcAft>
              <a:buSzPts val="2000"/>
            </a:pPr>
            <a:r>
              <a:rPr lang="en-US" dirty="0"/>
              <a:t>Preprocess the dataset by handling missing values, outliers, and encoding features.</a:t>
            </a:r>
          </a:p>
          <a:p>
            <a:pPr marL="469900" algn="just">
              <a:spcBef>
                <a:spcPts val="0"/>
              </a:spcBef>
              <a:spcAft>
                <a:spcPts val="1200"/>
              </a:spcAft>
              <a:buSzPts val="2000"/>
            </a:pPr>
            <a:r>
              <a:rPr lang="en-US" dirty="0"/>
              <a:t>Develop and train Random Forest (RF) and LSTM models on the prepared data.</a:t>
            </a:r>
          </a:p>
          <a:p>
            <a:pPr marL="469900" algn="just">
              <a:spcBef>
                <a:spcPts val="0"/>
              </a:spcBef>
              <a:spcAft>
                <a:spcPts val="1200"/>
              </a:spcAft>
              <a:buSzPts val="2000"/>
            </a:pPr>
            <a:r>
              <a:rPr lang="en-US" dirty="0"/>
              <a:t>Evaluate model performance using accuracy, precision, recall, and F1-score.</a:t>
            </a:r>
          </a:p>
          <a:p>
            <a:pPr marL="469900" algn="just">
              <a:spcBef>
                <a:spcPts val="0"/>
              </a:spcBef>
              <a:spcAft>
                <a:spcPts val="1200"/>
              </a:spcAft>
              <a:buSzPts val="2000"/>
            </a:pPr>
            <a:r>
              <a:rPr lang="en-US" dirty="0"/>
              <a:t>Visualize results and compare the models to identify the best approach for crime prediction. </a:t>
            </a:r>
          </a:p>
          <a:p>
            <a:pPr marL="469900" algn="just">
              <a:spcBef>
                <a:spcPts val="0"/>
              </a:spcBef>
              <a:spcAft>
                <a:spcPts val="1200"/>
              </a:spcAft>
              <a:buSzPts val="2000"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7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ookman Old Style"/>
              <a:buNone/>
            </a:pPr>
            <a:r>
              <a:rPr lang="en-US" dirty="0"/>
              <a:t>TOOLS AND TECH</a:t>
            </a:r>
            <a:endParaRPr dirty="0"/>
          </a:p>
        </p:txBody>
      </p:sp>
      <p:sp>
        <p:nvSpPr>
          <p:cNvPr id="246" name="Google Shape;246;p37"/>
          <p:cNvSpPr txBox="1"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9900" algn="just">
              <a:spcBef>
                <a:spcPts val="0"/>
              </a:spcBef>
              <a:spcAft>
                <a:spcPts val="1200"/>
              </a:spcAft>
              <a:buSzPts val="2000"/>
            </a:pPr>
            <a:r>
              <a:rPr lang="en-US" sz="2400" dirty="0"/>
              <a:t>Programming Language: Python, HTML, Flask, CSS</a:t>
            </a:r>
          </a:p>
          <a:p>
            <a:pPr marL="469900" algn="just">
              <a:spcBef>
                <a:spcPts val="0"/>
              </a:spcBef>
              <a:spcAft>
                <a:spcPts val="1200"/>
              </a:spcAft>
              <a:buSzPts val="2000"/>
            </a:pPr>
            <a:r>
              <a:rPr lang="en-US" sz="2400" dirty="0"/>
              <a:t>Libraries: Scikit-learn, TensorFlow/</a:t>
            </a:r>
            <a:r>
              <a:rPr lang="en-US" sz="2400" dirty="0" err="1"/>
              <a:t>Keras</a:t>
            </a:r>
            <a:r>
              <a:rPr lang="en-US" sz="2400" dirty="0"/>
              <a:t>, Pandas, Matplotlib, Seaborn</a:t>
            </a:r>
          </a:p>
          <a:p>
            <a:pPr marL="469900" algn="just">
              <a:spcBef>
                <a:spcPts val="0"/>
              </a:spcBef>
              <a:spcAft>
                <a:spcPts val="1200"/>
              </a:spcAft>
              <a:buSzPts val="2000"/>
            </a:pPr>
            <a:r>
              <a:rPr lang="en-US" sz="2400" dirty="0"/>
              <a:t>Platform: Google </a:t>
            </a:r>
            <a:r>
              <a:rPr lang="en-US" sz="2400" dirty="0" err="1"/>
              <a:t>Colab</a:t>
            </a:r>
            <a:r>
              <a:rPr lang="en-US" sz="2400" dirty="0"/>
              <a:t> for model training with GPU support</a:t>
            </a:r>
          </a:p>
          <a:p>
            <a:pPr marL="469900" algn="just">
              <a:spcBef>
                <a:spcPts val="0"/>
              </a:spcBef>
              <a:spcAft>
                <a:spcPts val="1200"/>
              </a:spcAft>
              <a:buSzPts val="2000"/>
            </a:pPr>
            <a:r>
              <a:rPr lang="en-US" sz="2400" dirty="0"/>
              <a:t>Visualization Tools: Matplotlib, Seaborn</a:t>
            </a:r>
          </a:p>
          <a:p>
            <a:pPr marL="469900" algn="just">
              <a:spcBef>
                <a:spcPts val="0"/>
              </a:spcBef>
              <a:spcAft>
                <a:spcPts val="1200"/>
              </a:spcAft>
              <a:buSzPts val="2000"/>
            </a:pPr>
            <a:r>
              <a:rPr lang="en-US" sz="2400" dirty="0"/>
              <a:t>Version Control: Git/GitHub for collaboration and version tracking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8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Bookman Old Style"/>
              <a:buNone/>
            </a:pPr>
            <a:r>
              <a:rPr lang="en-US"/>
              <a:t>REFERENCES </a:t>
            </a:r>
            <a:endParaRPr/>
          </a:p>
        </p:txBody>
      </p:sp>
      <p:sp>
        <p:nvSpPr>
          <p:cNvPr id="252" name="Google Shape;252;p38"/>
          <p:cNvSpPr txBox="1"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228600" lvl="0" indent="-228600" algn="just" rtl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lt1"/>
              </a:buClr>
              <a:buSzPts val="2000"/>
              <a:buChar char="•"/>
            </a:pPr>
            <a:r>
              <a:rPr lang="en-US" dirty="0"/>
              <a:t>Sharma, R., Agrawal, R., &amp; Rana, M. S. "Crime forecasting using machine learning algorithms." International Journal of Advanced Research in Computer and Communication Engineering, vol. 8, no. 5, pp. 23–29, May 2019.</a:t>
            </a:r>
          </a:p>
          <a:p>
            <a:pPr marL="228600" lvl="0" indent="-228600" algn="just" rtl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lt1"/>
              </a:buClr>
              <a:buSzPts val="2000"/>
              <a:buChar char="•"/>
            </a:pPr>
            <a:r>
              <a:rPr lang="en-US" dirty="0"/>
              <a:t>Li, Y., Ma, J., Li, Y., &amp; Zhang, D. "Crime hotspot detection and prediction using deep learning." Proceedings of the IEEE International Conference on Big Data (Big Data), pp. 456–465, Dec. 2021.</a:t>
            </a:r>
          </a:p>
          <a:p>
            <a:pPr marL="228600" lvl="0" indent="-228600" algn="just" rtl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lt1"/>
              </a:buClr>
              <a:buSzPts val="2000"/>
              <a:buChar char="•"/>
            </a:pPr>
            <a:r>
              <a:rPr lang="en-US" dirty="0"/>
              <a:t>Singh, D., Jain, V., &amp; Garg, R. "Time-series crime forecasting using LSTM and ARIMA." IEEE Transactions on Computational Social Systems, vol. 9, no. 2, pp. 345–356, 2022.</a:t>
            </a:r>
          </a:p>
          <a:p>
            <a:pPr marL="228600" lvl="0" indent="-228600" algn="just" rtl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lt1"/>
              </a:buClr>
              <a:buSzPts val="2000"/>
              <a:buChar char="•"/>
            </a:pPr>
            <a:r>
              <a:rPr lang="en-US" dirty="0"/>
              <a:t>Gupta, A., Kumar, S., &amp; Sharma, V. "Crime Prediction Using Random Forest and Deep Learning Models." Journal of Computer Science and Information Technology, vol. 10, no. 3, pp. 67–81, 2020.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mask">
  <a:themeElements>
    <a:clrScheme name="Damask">
      <a:dk1>
        <a:srgbClr val="000000"/>
      </a:dk1>
      <a:lt1>
        <a:srgbClr val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574</TotalTime>
  <Words>1176</Words>
  <Application>Microsoft Office PowerPoint</Application>
  <PresentationFormat>Widescreen</PresentationFormat>
  <Paragraphs>140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Bookman Old Style</vt:lpstr>
      <vt:lpstr>quote-cjk-patch</vt:lpstr>
      <vt:lpstr>Rockwell</vt:lpstr>
      <vt:lpstr>Times New Roman</vt:lpstr>
      <vt:lpstr>Damask</vt:lpstr>
      <vt:lpstr>Crime Prediction: A Comparative Analysis of Random Forest and LSTM</vt:lpstr>
      <vt:lpstr>INTRODUCTION</vt:lpstr>
      <vt:lpstr>PROBLEM STATEMENT</vt:lpstr>
      <vt:lpstr>PROPOSED SOLUTION</vt:lpstr>
      <vt:lpstr>BENCHMARKING</vt:lpstr>
      <vt:lpstr>OBJECTIVES &amp; GOALS</vt:lpstr>
      <vt:lpstr>PROJECT FEATURES</vt:lpstr>
      <vt:lpstr>PowerPoint Presentation</vt:lpstr>
      <vt:lpstr>STAKEHOLDERS</vt:lpstr>
      <vt:lpstr>FUNCTIONAL REQUIREMENTS</vt:lpstr>
      <vt:lpstr>NON-FUNCTIONAL REQUIREMENTS</vt:lpstr>
      <vt:lpstr>CONSTRAINTS</vt:lpstr>
      <vt:lpstr>FUNCTIONALITY CLASSIFICATION</vt:lpstr>
      <vt:lpstr>PowerPoint Presentation</vt:lpstr>
      <vt:lpstr>DESIGN METHODOLOGY</vt:lpstr>
      <vt:lpstr>TOOLS AND TECH</vt:lpstr>
      <vt:lpstr>REFERENCES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PROJECT</dc:title>
  <dc:creator>M.Hamza Sajjad</dc:creator>
  <cp:lastModifiedBy>hamza sajjad</cp:lastModifiedBy>
  <cp:revision>85</cp:revision>
  <dcterms:modified xsi:type="dcterms:W3CDTF">2026-06-03T19:02:28Z</dcterms:modified>
</cp:coreProperties>
</file>